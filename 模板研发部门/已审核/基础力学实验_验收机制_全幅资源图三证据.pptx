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52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lang="zh-CN" altLang="en-US" sz="2800" b="1" noProof="0" dirty="0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21248"/>
            <ns1:ext cx="3568389" cy="521970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800" b="1" dirty="0">
                <ns1:solidFill>
                  <ns1:prstClr val="white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800" b="1" dirty="0">
              <ns1:solidFill>
                <ns1:prstClr val="white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P18_导语强调线"/>
          <ns0:cNvSpPr/>
          <ns0:nvPr/>
        </ns0:nvSpPr>
        <ns0:spPr>
          <ns1:xfrm>
            <ns1:off x="482600" y="774700"/>
            <ns1:ext cx="63500" cy="368300"/>
          </ns1:xfrm>
          <ns1:prstGeom prst="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 cap="flat" cmpd="sng" algn="ctr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P18_导语"/>
          <ns0:cNvSpPr txBox="1"/>
          <ns0:nvPr/>
        </ns0:nvSpPr>
        <ns0:spPr>
          <ns1:xfrm>
            <ns1:off x="698500" y="723900"/>
            <ns1:ext cx="10795000" cy="322580"/>
          </ns1:xfrm>
          <ns1:prstGeom prst="rect">
            <ns1:avLst/>
          </ns1:prstGeom>
          <ns1:noFill/>
        </ns0:spPr>
        <ns0:txBody>
          <ns1:bodyPr wrap="square" lIns="0" tIns="0" rIns="0" rtlCol="0" anchor="ctr">
            <ns1:noAutofit/>
          </ns1:bodyPr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lang="zh-CN" altLang="en-US" sz="24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示例内容公开模板，</ns1:t>
            </ns1:r>
            <ns1:r>
              <ns1:rPr lang="zh-CN" altLang="en-US" sz="24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</ns1:t>
            </ns1:r>
            <ns1:endParaRPr lang="zh-CN" altLang="en-US" sz="24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pic>
        <ns0:nvPicPr>
          <ns0:cNvPr id="10" name="P18_基础力学实验数智教学资源体系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635000" y="公开示例00"/>
            <ns1:ext cx="10922000" cy="3005455"/>
          </ns1:xfrm>
          <ns1:prstGeom prst="rect">
            <ns1:avLst/>
          </ns1:prstGeom>
        </ns0:spPr>
      </ns0:pic>
      <ns0:sp>
        <ns0:nvSpPr>
          <ns0:cNvPr id="15" name="P18_资源体系图边框"/>
          <ns0:cNvSpPr/>
          <ns0:nvPr/>
        </ns0:nvSpPr>
        <ns0:spPr>
          <ns1:xfrm>
            <ns1:off x="622300" y="1295400"/>
            <ns1:ext cx="10947400" cy="3030855"/>
          </ns1:xfrm>
          <ns1:prstGeom prst="rect">
            <ns1:avLst/>
          </ns1:prstGeom>
          <ns1:noFill/>
          <ns1:ln w="12700">
            <ns1:solidFill>
              <ns1:srgbClr val="123A85"/>
            </ns1:solidFill>
          </ns1:ln>
          <ns1:extLst>
            <ns1:ext uri="{909E8E84-426E-40DD-AFC4-6F175D3DCCD1}">
              <ns2:hiddenFill>
                <ns1:solidFill>
                  <ns1:schemeClr val="accent1"/>
                </ns1:solidFill>
              </ns2:hiddenFill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P18_图注底板"/>
          <ns0:cNvSpPr/>
          <ns0:nvPr/>
        </ns0:nvSpPr>
        <ns0:spPr>
          <ns1:xfrm>
            <ns1:off x="635000" y="4330700"/>
            <ns1:ext cx="10922000" cy="22860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 cap="flat" cmpd="sng" algn="ctr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P18_图注"/>
          <ns0:cNvSpPr txBox="1"/>
          <ns0:nvPr/>
        </ns0:nvSpPr>
        <ns0:spPr>
          <ns1:xfrm>
            <ns1:off x="774700" y="4351020"/>
            <ns1:ext cx="10642600" cy="322580"/>
          </ns1:xfrm>
          <ns1:prstGeom prst="rect">
            <ns1:avLst/>
          </ns1:prstGeom>
          <ns1:noFill/>
        </ns0:spPr>
        <ns0:txBody>
          <ns1:bodyPr wrap="square" lIns="0" tIns="0" rIns="0" rtlCol="0" anchor="ctr">
            <ns1:noAutofit/>
          </ns1:bodyPr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示例内容公开模板示例内容公开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</ns1:t>
            </ns1:r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 / </ns1:t>
            </ns1:r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示例内容公开模板示例内容公开模板</ns1:t>
            </ns1:r>
            <ns1:endParaRPr lang="zh-CN" altLang="en-US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P18_证据卡1_底板"/>
          <ns0:cNvSpPr/>
          <ns0:nvPr/>
        </ns0:nvSpPr>
        <ns0:spPr>
          <ns1:xfrm>
            <ns1:off x="635000" y="4775200"/>
            <ns1:ext cx="3505200" cy="977900"/>
          </ns1:xfrm>
          <ns1:prstGeom prst="rect">
            <ns1:avLst/>
          </ns1:prstGeom>
          <ns1:solidFill>
            <ns1:srgbClr val="F1F6FD"/>
          </ns1:solidFill>
          <ns1:ln w="10160">
            <ns1:solidFill>
              <ns1:srgbClr val="BCD1EC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P18_证据卡1_色条"/>
          <ns0:cNvSpPr/>
          <ns0:nvPr/>
        </ns0:nvSpPr>
        <ns0:spPr>
          <ns1:xfrm>
            <ns1:off x="635000" y="4775200"/>
            <ns1:ext cx="88900" cy="97790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 cap="flat" cmpd="sng" algn="ctr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0" name="P18_证据卡1_顶线"/>
          <ns0:cNvSpPr/>
          <ns0:nvPr/>
        </ns0:nvSpPr>
        <ns0:spPr>
          <ns1:xfrm>
            <ns1:off x="723900" y="4775200"/>
            <ns1:ext cx="3416300" cy="38100"/>
          </ns1:xfrm>
          <ns1:prstGeom prst="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 cap="flat" cmpd="sng" algn="ctr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P18_证据卡1_标题"/>
          <ns0:cNvSpPr txBox="1"/>
          <ns0:nvPr/>
        </ns0:nvSpPr>
        <ns0:spPr>
          <ns1:xfrm>
            <ns1:off x="901700" y="4889500"/>
            <ns1:ext cx="2997200" cy="322580"/>
          </ns1:xfrm>
          <ns1:prstGeom prst="rect">
            <ns1:avLst/>
          </ns1:prstGeom>
          <ns1:noFill/>
        </ns0:spPr>
        <ns0:txBody>
          <ns1:bodyPr wrap="square" lIns="0" tIns="0" rIns="0" rtlCol="0" anchor="ctr">
            <ns1:noAutofit/>
          </ns1:bodyPr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P18_证据卡1_正文"/>
          <ns0:cNvSpPr txBox="1"/>
          <ns0:nvPr/>
        </ns0:nvSpPr>
        <ns0:spPr>
          <ns1:xfrm>
            <ns1:off x="901700" y="5219700"/>
            <ns1:ext cx="2997200" cy="322580"/>
          </ns1:xfrm>
          <ns1:prstGeom prst="rect">
            <ns1:avLst/>
          </ns1:prstGeom>
          <ns1:noFill/>
        </ns0:spPr>
        <ns0:txBody>
          <ns1:bodyPr wrap="square" lIns="0" tIns="0" rIns="0" rtlCol="0" anchor="ctr">
            <ns1:noAutofit/>
          </ns1:bodyPr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lang="zh-CN" altLang="en-US" sz="1420">
                <ns1:solidFill>
                  <ns1:srgbClr val="454F5B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示例内容、公开模板示</ns1:t>
            </ns1:r>
            <ns1:r>
              <ns1:rPr lang="en-US" altLang="zh-CN" sz="1420">
                <ns1:solidFill>
                  <ns1:srgbClr val="454F5B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
</ns1:t>
            </ns1:r>
            <ns1:r>
              <ns1:rPr lang="zh-CN" altLang="en-US" sz="1420">
                <ns1:solidFill>
                  <ns1:srgbClr val="454F5B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endParaRPr lang="zh-CN" altLang="en-US" sz="1420">
              <ns1:solidFill>
                <ns1:srgbClr val="454F5B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3" name="P18_证据卡2_底板"/>
          <ns0:cNvSpPr/>
          <ns0:nvPr/>
        </ns0:nvSpPr>
        <ns0:spPr>
          <ns1:xfrm>
            <ns1:off x="4343400" y="4775200"/>
            <ns1:ext cx="3505200" cy="977900"/>
          </ns1:xfrm>
          <ns1:prstGeom prst="rect">
            <ns1:avLst/>
          </ns1:prstGeom>
          <ns1:solidFill>
            <ns1:srgbClr val="F1F6FD"/>
          </ns1:solidFill>
          <ns1:ln w="10160">
            <ns1:solidFill>
              <ns1:srgbClr val="BCD1EC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4" name="P18_证据卡2_色条"/>
          <ns0:cNvSpPr/>
          <ns0:nvPr/>
        </ns0:nvSpPr>
        <ns0:spPr>
          <ns1:xfrm>
            <ns1:off x="4343400" y="4775200"/>
            <ns1:ext cx="88900" cy="97790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 cap="flat" cmpd="sng" algn="ctr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5" name="P18_证据卡2_顶线"/>
          <ns0:cNvSpPr/>
          <ns0:nvPr/>
        </ns0:nvSpPr>
        <ns0:spPr>
          <ns1:xfrm>
            <ns1:off x="4432300" y="4775200"/>
            <ns1:ext cx="3416300" cy="38100"/>
          </ns1:xfrm>
          <ns1:prstGeom prst="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 cap="flat" cmpd="sng" algn="ctr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6" name="P18_证据卡2_标题"/>
          <ns0:cNvSpPr txBox="1"/>
          <ns0:nvPr/>
        </ns0:nvSpPr>
        <ns0:spPr>
          <ns1:xfrm>
            <ns1:off x="4610100" y="4889500"/>
            <ns1:ext cx="2997200" cy="322580"/>
          </ns1:xfrm>
          <ns1:prstGeom prst="rect">
            <ns1:avLst/>
          </ns1:prstGeom>
          <ns1:noFill/>
        </ns0:spPr>
        <ns0:txBody>
          <ns1:bodyPr wrap="square" lIns="0" tIns="0" rIns="0" rtlCol="0" anchor="ctr">
            <ns1:noAutofit/>
          </ns1:bodyPr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7" name="P18_证据卡2_正文"/>
          <ns0:cNvSpPr txBox="1"/>
          <ns0:nvPr/>
        </ns0:nvSpPr>
        <ns0:spPr>
          <ns1:xfrm>
            <ns1:off x="4610100" y="5219700"/>
            <ns1:ext cx="2997200" cy="322580"/>
          </ns1:xfrm>
          <ns1:prstGeom prst="rect">
            <ns1:avLst/>
          </ns1:prstGeom>
          <ns1:noFill/>
        </ns0:spPr>
        <ns0:txBody>
          <ns1:bodyPr wrap="square" lIns="0" tIns="0" rIns="0" rtlCol="0" anchor="ctr">
            <ns1:noAutofit/>
          </ns1:bodyPr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lang="zh-CN" altLang="en-US" sz="1420">
                <ns1:solidFill>
                  <ns1:srgbClr val="454F5B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示例内容、公开模板示</ns1:t>
            </ns1:r>
            <ns1:r>
              <ns1:rPr lang="en-US" altLang="zh-CN" sz="1420">
                <ns1:solidFill>
                  <ns1:srgbClr val="454F5B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
</ns1:t>
            </ns1:r>
            <ns1:r>
              <ns1:rPr lang="zh-CN" altLang="en-US" sz="1420">
                <ns1:solidFill>
                  <ns1:srgbClr val="454F5B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endParaRPr lang="zh-CN" altLang="en-US" sz="1420">
              <ns1:solidFill>
                <ns1:srgbClr val="454F5B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8" name="P18_证据卡3_底板"/>
          <ns0:cNvSpPr/>
          <ns0:nvPr/>
        </ns0:nvSpPr>
        <ns0:spPr>
          <ns1:xfrm>
            <ns1:off x="8051800" y="4775200"/>
            <ns1:ext cx="3505200" cy="977900"/>
          </ns1:xfrm>
          <ns1:prstGeom prst="rect">
            <ns1:avLst/>
          </ns1:prstGeom>
          <ns1:solidFill>
            <ns1:srgbClr val="F1F6FD"/>
          </ns1:solidFill>
          <ns1:ln w="10160">
            <ns1:solidFill>
              <ns1:srgbClr val="BCD1EC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P18_证据卡3_色条"/>
          <ns0:cNvSpPr/>
          <ns0:nvPr/>
        </ns0:nvSpPr>
        <ns0:spPr>
          <ns1:xfrm>
            <ns1:off x="8051800" y="4775200"/>
            <ns1:ext cx="88900" cy="97790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 cap="flat" cmpd="sng" algn="ctr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0" name="P18_证据卡3_顶线"/>
          <ns0:cNvSpPr/>
          <ns0:nvPr/>
        </ns0:nvSpPr>
        <ns0:spPr>
          <ns1:xfrm>
            <ns1:off x="8140700" y="4775200"/>
            <ns1:ext cx="3416300" cy="38100"/>
          </ns1:xfrm>
          <ns1:prstGeom prst="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 cap="flat" cmpd="sng" algn="ctr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P18_证据卡3_标题"/>
          <ns0:cNvSpPr txBox="1"/>
          <ns0:nvPr/>
        </ns0:nvSpPr>
        <ns0:spPr>
          <ns1:xfrm>
            <ns1:off x="8318500" y="4889500"/>
            <ns1:ext cx="2997200" cy="322580"/>
          </ns1:xfrm>
          <ns1:prstGeom prst="rect">
            <ns1:avLst/>
          </ns1:prstGeom>
          <ns1:noFill/>
        </ns0:spPr>
        <ns0:txBody>
          <ns1:bodyPr wrap="square" lIns="0" tIns="0" rIns="0" rtlCol="0" anchor="ctr">
            <ns1:noAutofit/>
          </ns1:bodyPr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P18_证据卡3_正文"/>
          <ns0:cNvSpPr txBox="1"/>
          <ns0:nvPr/>
        </ns0:nvSpPr>
        <ns0:spPr>
          <ns1:xfrm>
            <ns1:off x="8318500" y="5219700"/>
            <ns1:ext cx="2997200" cy="322580"/>
          </ns1:xfrm>
          <ns1:prstGeom prst="rect">
            <ns1:avLst/>
          </ns1:prstGeom>
          <ns1:noFill/>
        </ns0:spPr>
        <ns0:txBody>
          <ns1:bodyPr wrap="square" lIns="0" tIns="0" rIns="0" rtlCol="0" anchor="ctr">
            <ns1:noAutofit/>
          </ns1:bodyPr>
          <ns1:p>
            <ns1:pPr algn="l">
              <ns1:lnSpc>
                <ns1:spcPct val="100000"/>
              </ns1:lnSpc>
              <ns1:spcAft>
                <ns1:spcPts val="0"/>
              </ns1:spcAft>
            </ns1:pPr>
            <ns1:r>
              <ns1:rPr lang="zh-CN" altLang="en-US" sz="1420">
                <ns1:solidFill>
                  <ns1:srgbClr val="454F5B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示例内容、公开模板示</ns1:t>
            </ns1:r>
            <ns1:r>
              <ns1:rPr lang="en-US" altLang="zh-CN" sz="1420">
                <ns1:solidFill>
                  <ns1:srgbClr val="454F5B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
</ns1:t>
            </ns1:r>
            <ns1:r>
              <ns1:rPr lang="zh-CN" altLang="en-US" sz="1420">
                <ns1:solidFill>
                  <ns1:srgbClr val="454F5B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</ns1:t>
            </ns1:r>
            <ns1:endParaRPr lang="zh-CN" altLang="en-US" sz="1420">
              <ns1:solidFill>
                <ns1:srgbClr val="454F5B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3" name="P18_结论底板"/>
          <ns0:cNvSpPr/>
          <ns0:nvPr/>
        </ns0:nvSpPr>
        <ns0:spPr>
          <ns1:xfrm>
            <ns1:off x="635000" y="5969000"/>
            <ns1:ext cx="10922000" cy="49530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 cap="flat" cmpd="sng" algn="ctr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P18_结论"/>
          <ns0:cNvSpPr txBox="1"/>
          <ns0:nvPr/>
        </ns0:nvSpPr>
        <ns0:spPr>
          <ns1:xfrm>
            <ns1:off x="863600" y="6070600"/>
            <ns1:ext cx="10464800" cy="322580"/>
          </ns1:xfrm>
          <ns1:prstGeom prst="rect">
            <ns1:avLst/>
          </ns1:prstGeom>
          <ns1:noFill/>
        </ns0:spPr>
        <ns0:txBody>
          <ns1:bodyPr wrap="square" lIns="0" tIns="0" rIns="0" rtlCol="0" anchor="ctr">
            <ns1:noAutofit/>
          </ns1:bodyPr>
          <ns1:p>
            <ns1:pPr algn="ctr">
              <ns1:lnSpc>
                <ns1:spcPct val="100000"/>
              </ns1:lnSpc>
              <ns1:spcAft>
                <ns1:spcPts val="0"/>
              </ns1:spcAft>
            </ns1:pPr>
            <ns1:r>
              <ns1:rPr lang="zh-CN" altLang="en-US" sz="18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示例内容公开模板、示例内容公开模板示例内容公开模板示例。</ns1:t>
            </ns1:r>
            <ns1:endParaRPr lang="zh-CN" altLang="en-US" sz="18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162</ns0:Words>
  <ns0:Application>WPS 演示</ns0:Application>
  <ns0:PresentationFormat>宽屏</ns0:PresentationFormat>
  <ns0:Paragraphs>22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8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10" baseType="lpstr">
      <ns1:lpstr>Arial</ns1:lpstr>
      <ns1:lpstr>宋体</ns1:lpstr>
      <ns1:lpstr>Wingdings</ns1:lpstr>
      <ns1:lpstr>微软雅黑</ns1:lpstr>
      <ns1:lpstr>Times New Roman</ns1:lpstr>
      <ns1:lpstr>华文中宋</ns1:lpstr>
      <ns1:lpstr>Wingdings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